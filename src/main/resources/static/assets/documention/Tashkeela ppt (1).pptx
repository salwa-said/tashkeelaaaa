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0" r:id="rId2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D9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139938-9445-4046-8A15-5E91951146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784EB9-64C8-42A3-8AD9-4D13353279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6C8E1B-A587-4F70-A045-329F2D5901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FD5616-C2DC-4D0A-947A-CCCC409DD9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619201-5228-4A6D-AD6C-7E9F3491D7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5BC81B-AA77-4185-B4F9-8EDB8D462A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DEB82E-BF15-4035-825F-C3787F0F96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B2526C-0C05-4BF1-8FCC-890BB893C7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0765E3-6715-4D93-89EE-C6588C7EB6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EDFAE6-E981-41AD-934B-AF47750730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4FFBFF-F830-4573-BBF4-3181352B01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FINAL PROJECT PRESENTATION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THE BEAUTIFUL GAME.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YOUR FANTASY TEAM.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3" name="Connector 5"/>
          <p:cNvCxnSpPr/>
          <p:nvPr/>
        </p:nvCxnSpPr>
        <p:spPr>
          <a:xfrm>
            <a:off x="594360" y="126332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64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7040880" y="1828800"/>
            <a:ext cx="4434480" cy="4114440"/>
          </a:xfrm>
          <a:prstGeom prst="rect">
            <a:avLst/>
          </a:prstGeom>
          <a:solidFill>
            <a:srgbClr val="0F654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9"/>
          <p:cNvSpPr/>
          <p:nvPr/>
        </p:nvSpPr>
        <p:spPr>
          <a:xfrm>
            <a:off x="7040880" y="1828800"/>
            <a:ext cx="369360" cy="411444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10"/>
          <p:cNvSpPr/>
          <p:nvPr/>
        </p:nvSpPr>
        <p:spPr>
          <a:xfrm>
            <a:off x="7779960" y="1828800"/>
            <a:ext cx="369360" cy="411444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11"/>
          <p:cNvSpPr/>
          <p:nvPr/>
        </p:nvSpPr>
        <p:spPr>
          <a:xfrm>
            <a:off x="8519040" y="1828800"/>
            <a:ext cx="369360" cy="411444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12"/>
          <p:cNvSpPr/>
          <p:nvPr/>
        </p:nvSpPr>
        <p:spPr>
          <a:xfrm>
            <a:off x="9258480" y="1828800"/>
            <a:ext cx="369360" cy="411444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3"/>
          <p:cNvSpPr/>
          <p:nvPr/>
        </p:nvSpPr>
        <p:spPr>
          <a:xfrm>
            <a:off x="9997560" y="1828800"/>
            <a:ext cx="369360" cy="411444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4"/>
          <p:cNvSpPr/>
          <p:nvPr/>
        </p:nvSpPr>
        <p:spPr>
          <a:xfrm>
            <a:off x="10736640" y="1828800"/>
            <a:ext cx="369360" cy="411444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3" name="Connector 15"/>
          <p:cNvCxnSpPr/>
          <p:nvPr/>
        </p:nvCxnSpPr>
        <p:spPr>
          <a:xfrm>
            <a:off x="7178040" y="1965960"/>
            <a:ext cx="4160880" cy="3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74" name="Connector 16"/>
          <p:cNvCxnSpPr/>
          <p:nvPr/>
        </p:nvCxnSpPr>
        <p:spPr>
          <a:xfrm>
            <a:off x="7178040" y="5806440"/>
            <a:ext cx="4160880" cy="3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75" name="Connector 17"/>
          <p:cNvCxnSpPr/>
          <p:nvPr/>
        </p:nvCxnSpPr>
        <p:spPr>
          <a:xfrm>
            <a:off x="7178040" y="1965960"/>
            <a:ext cx="360" cy="384084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76" name="Connector 18"/>
          <p:cNvCxnSpPr/>
          <p:nvPr/>
        </p:nvCxnSpPr>
        <p:spPr>
          <a:xfrm>
            <a:off x="11338560" y="1965960"/>
            <a:ext cx="360" cy="384084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77" name="Connector 19"/>
          <p:cNvCxnSpPr/>
          <p:nvPr/>
        </p:nvCxnSpPr>
        <p:spPr>
          <a:xfrm>
            <a:off x="9258120" y="1965960"/>
            <a:ext cx="360" cy="384084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sp>
        <p:nvSpPr>
          <p:cNvPr id="78" name="Oval 20"/>
          <p:cNvSpPr/>
          <p:nvPr/>
        </p:nvSpPr>
        <p:spPr>
          <a:xfrm>
            <a:off x="8755560" y="3383280"/>
            <a:ext cx="1005480" cy="1005480"/>
          </a:xfrm>
          <a:prstGeom prst="ellipse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21"/>
          <p:cNvSpPr/>
          <p:nvPr/>
        </p:nvSpPr>
        <p:spPr>
          <a:xfrm>
            <a:off x="7178040" y="2880360"/>
            <a:ext cx="1096920" cy="2011320"/>
          </a:xfrm>
          <a:prstGeom prst="rect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2"/>
          <p:cNvSpPr/>
          <p:nvPr/>
        </p:nvSpPr>
        <p:spPr>
          <a:xfrm>
            <a:off x="10241280" y="2880360"/>
            <a:ext cx="1096920" cy="2011320"/>
          </a:xfrm>
          <a:prstGeom prst="rect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30"/>
          <p:cNvSpPr/>
          <p:nvPr/>
        </p:nvSpPr>
        <p:spPr>
          <a:xfrm>
            <a:off x="753292" y="2351315"/>
            <a:ext cx="6126120" cy="19477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solidFill>
                  <a:srgbClr val="18D99A"/>
                </a:solidFill>
                <a:effectLst/>
                <a:uFillTx/>
                <a:latin typeface="Aptos"/>
              </a:rPr>
              <a:t>TASHKEELA</a:t>
            </a: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solidFill>
                  <a:srgbClr val="132D28"/>
                </a:solidFill>
                <a:effectLst/>
                <a:uFillTx/>
                <a:latin typeface="Aptos"/>
              </a:rPr>
              <a:t>OMAN</a:t>
            </a:r>
            <a:r>
              <a:rPr lang="en-US" sz="38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800" b="1" u="none" strike="noStrike" dirty="0">
                <a:solidFill>
                  <a:srgbClr val="132D28"/>
                </a:solidFill>
                <a:effectLst/>
                <a:uFillTx/>
                <a:latin typeface="Aptos"/>
              </a:rPr>
              <a:t>FOOTBALL MANAGER</a:t>
            </a:r>
            <a:endParaRPr lang="en-US" sz="3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1"/>
          <p:cNvSpPr/>
          <p:nvPr/>
        </p:nvSpPr>
        <p:spPr>
          <a:xfrm>
            <a:off x="768240" y="4161756"/>
            <a:ext cx="5668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 dirty="0">
                <a:solidFill>
                  <a:srgbClr val="132D28"/>
                </a:solidFill>
                <a:effectLst/>
                <a:uFillTx/>
                <a:latin typeface="Aptos"/>
              </a:rPr>
              <a:t>FIFA-style fantasy football for the Oman Professional League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2"/>
          <p:cNvSpPr/>
          <p:nvPr/>
        </p:nvSpPr>
        <p:spPr>
          <a:xfrm>
            <a:off x="777240" y="5833800"/>
            <a:ext cx="58518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•  Almonther  •  Mohammed  •  Rashid  •  Salima  •  Salwa</a:t>
            </a:r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AC2143-FC81-1221-33ED-58E21727C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128" y="3372114"/>
            <a:ext cx="1030192" cy="1030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Why this project?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96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640080" y="1828800"/>
            <a:ext cx="3565800" cy="347436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9"/>
          <p:cNvSpPr/>
          <p:nvPr/>
        </p:nvSpPr>
        <p:spPr>
          <a:xfrm>
            <a:off x="640080" y="1828800"/>
            <a:ext cx="63720" cy="347436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859680" y="197496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!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1"/>
          <p:cNvSpPr/>
          <p:nvPr/>
        </p:nvSpPr>
        <p:spPr>
          <a:xfrm>
            <a:off x="1444680" y="2011680"/>
            <a:ext cx="262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THE GAP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896040" y="2606040"/>
            <a:ext cx="3062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Local football fans have limited fantasy experiences focused on Omani clubs.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3"/>
          <p:cNvSpPr/>
          <p:nvPr/>
        </p:nvSpPr>
        <p:spPr>
          <a:xfrm>
            <a:off x="4316040" y="1828800"/>
            <a:ext cx="3565800" cy="347436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4"/>
          <p:cNvSpPr/>
          <p:nvPr/>
        </p:nvSpPr>
        <p:spPr>
          <a:xfrm>
            <a:off x="4316040" y="1828800"/>
            <a:ext cx="63720" cy="347436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4535280" y="197496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+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6"/>
          <p:cNvSpPr/>
          <p:nvPr/>
        </p:nvSpPr>
        <p:spPr>
          <a:xfrm>
            <a:off x="5120640" y="2011680"/>
            <a:ext cx="262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THE OPPORTUNITY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7"/>
          <p:cNvSpPr/>
          <p:nvPr/>
        </p:nvSpPr>
        <p:spPr>
          <a:xfrm>
            <a:off x="4572000" y="2606040"/>
            <a:ext cx="3062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Bring match statistics, player discovery and fantasy competition into one platform.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8"/>
          <p:cNvSpPr/>
          <p:nvPr/>
        </p:nvSpPr>
        <p:spPr>
          <a:xfrm>
            <a:off x="8001000" y="1828800"/>
            <a:ext cx="3565800" cy="347436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9"/>
          <p:cNvSpPr/>
          <p:nvPr/>
        </p:nvSpPr>
        <p:spPr>
          <a:xfrm>
            <a:off x="8001000" y="1828800"/>
            <a:ext cx="63720" cy="3474360"/>
          </a:xfrm>
          <a:prstGeom prst="rect">
            <a:avLst/>
          </a:prstGeom>
          <a:solidFill>
            <a:srgbClr val="79C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0"/>
          <p:cNvSpPr/>
          <p:nvPr/>
        </p:nvSpPr>
        <p:spPr>
          <a:xfrm>
            <a:off x="8220600" y="197496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79C5FF"/>
                </a:solidFill>
                <a:effectLst/>
                <a:uFillTx/>
                <a:latin typeface="Aptos"/>
              </a:rPr>
              <a:t>★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1"/>
          <p:cNvSpPr/>
          <p:nvPr/>
        </p:nvSpPr>
        <p:spPr>
          <a:xfrm>
            <a:off x="8805600" y="2011680"/>
            <a:ext cx="2624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THE SOLUTION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2"/>
          <p:cNvSpPr/>
          <p:nvPr/>
        </p:nvSpPr>
        <p:spPr>
          <a:xfrm>
            <a:off x="8256960" y="2606040"/>
            <a:ext cx="3062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A dedicated Oman Professional League fantasy manager with ratings and advice.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Project objectives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118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8"/>
          <p:cNvSpPr/>
          <p:nvPr/>
        </p:nvSpPr>
        <p:spPr>
          <a:xfrm>
            <a:off x="640080" y="1810440"/>
            <a:ext cx="3602520" cy="185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9"/>
          <p:cNvSpPr/>
          <p:nvPr/>
        </p:nvSpPr>
        <p:spPr>
          <a:xfrm>
            <a:off x="640080" y="1810440"/>
            <a:ext cx="63720" cy="185580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859680" y="195696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01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1444680" y="1993320"/>
            <a:ext cx="26604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SECURE ACCESS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2"/>
          <p:cNvSpPr/>
          <p:nvPr/>
        </p:nvSpPr>
        <p:spPr>
          <a:xfrm>
            <a:off x="896040" y="2587680"/>
            <a:ext cx="3099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User accounts, JWT and role-based access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3"/>
          <p:cNvSpPr/>
          <p:nvPr/>
        </p:nvSpPr>
        <p:spPr>
          <a:xfrm>
            <a:off x="4443840" y="1810440"/>
            <a:ext cx="3602520" cy="185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14"/>
          <p:cNvSpPr/>
          <p:nvPr/>
        </p:nvSpPr>
        <p:spPr>
          <a:xfrm>
            <a:off x="4443840" y="1810440"/>
            <a:ext cx="63720" cy="185580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5"/>
          <p:cNvSpPr/>
          <p:nvPr/>
        </p:nvSpPr>
        <p:spPr>
          <a:xfrm>
            <a:off x="4663440" y="195696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02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6"/>
          <p:cNvSpPr/>
          <p:nvPr/>
        </p:nvSpPr>
        <p:spPr>
          <a:xfrm>
            <a:off x="5248800" y="1993320"/>
            <a:ext cx="26604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BUILD YOUR XI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7"/>
          <p:cNvSpPr/>
          <p:nvPr/>
        </p:nvSpPr>
        <p:spPr>
          <a:xfrm>
            <a:off x="4700160" y="2587680"/>
            <a:ext cx="30996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Select 11 players within a budget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8"/>
          <p:cNvSpPr/>
          <p:nvPr/>
        </p:nvSpPr>
        <p:spPr>
          <a:xfrm>
            <a:off x="8247960" y="1810440"/>
            <a:ext cx="3602520" cy="185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19"/>
          <p:cNvSpPr/>
          <p:nvPr/>
        </p:nvSpPr>
        <p:spPr>
          <a:xfrm>
            <a:off x="8247960" y="1810440"/>
            <a:ext cx="63720" cy="185580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0"/>
          <p:cNvSpPr/>
          <p:nvPr/>
        </p:nvSpPr>
        <p:spPr>
          <a:xfrm>
            <a:off x="8467200" y="195696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1"/>
          <p:cNvSpPr/>
          <p:nvPr/>
        </p:nvSpPr>
        <p:spPr>
          <a:xfrm>
            <a:off x="9052560" y="1993320"/>
            <a:ext cx="26604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EARN POINTS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2"/>
          <p:cNvSpPr/>
          <p:nvPr/>
        </p:nvSpPr>
        <p:spPr>
          <a:xfrm>
            <a:off x="8503920" y="2587680"/>
            <a:ext cx="30996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Match performances drive scoring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23"/>
          <p:cNvSpPr/>
          <p:nvPr/>
        </p:nvSpPr>
        <p:spPr>
          <a:xfrm>
            <a:off x="640080" y="3895200"/>
            <a:ext cx="3602520" cy="185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24"/>
          <p:cNvSpPr/>
          <p:nvPr/>
        </p:nvSpPr>
        <p:spPr>
          <a:xfrm>
            <a:off x="640080" y="3895200"/>
            <a:ext cx="63720" cy="185580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5"/>
          <p:cNvSpPr/>
          <p:nvPr/>
        </p:nvSpPr>
        <p:spPr>
          <a:xfrm>
            <a:off x="859680" y="40417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04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6"/>
          <p:cNvSpPr/>
          <p:nvPr/>
        </p:nvSpPr>
        <p:spPr>
          <a:xfrm>
            <a:off x="1444680" y="4078080"/>
            <a:ext cx="26604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COMPETE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7"/>
          <p:cNvSpPr/>
          <p:nvPr/>
        </p:nvSpPr>
        <p:spPr>
          <a:xfrm>
            <a:off x="896040" y="4672440"/>
            <a:ext cx="3099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Compare fantasy teams on a leaderboard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28"/>
          <p:cNvSpPr/>
          <p:nvPr/>
        </p:nvSpPr>
        <p:spPr>
          <a:xfrm>
            <a:off x="4443840" y="3895200"/>
            <a:ext cx="3602520" cy="185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9"/>
          <p:cNvSpPr/>
          <p:nvPr/>
        </p:nvSpPr>
        <p:spPr>
          <a:xfrm>
            <a:off x="4443840" y="3895200"/>
            <a:ext cx="63720" cy="185580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30"/>
          <p:cNvSpPr/>
          <p:nvPr/>
        </p:nvSpPr>
        <p:spPr>
          <a:xfrm>
            <a:off x="4663440" y="40417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05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1"/>
          <p:cNvSpPr/>
          <p:nvPr/>
        </p:nvSpPr>
        <p:spPr>
          <a:xfrm>
            <a:off x="5248800" y="4078080"/>
            <a:ext cx="26604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ANALYZE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2"/>
          <p:cNvSpPr/>
          <p:nvPr/>
        </p:nvSpPr>
        <p:spPr>
          <a:xfrm>
            <a:off x="4700160" y="4672440"/>
            <a:ext cx="3099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Player ratings and fantasy recommendations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33"/>
          <p:cNvSpPr/>
          <p:nvPr/>
        </p:nvSpPr>
        <p:spPr>
          <a:xfrm>
            <a:off x="8247960" y="3895200"/>
            <a:ext cx="3602520" cy="185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34"/>
          <p:cNvSpPr/>
          <p:nvPr/>
        </p:nvSpPr>
        <p:spPr>
          <a:xfrm>
            <a:off x="8247960" y="3895200"/>
            <a:ext cx="63720" cy="185580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35"/>
          <p:cNvSpPr/>
          <p:nvPr/>
        </p:nvSpPr>
        <p:spPr>
          <a:xfrm>
            <a:off x="8467200" y="40417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06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6"/>
          <p:cNvSpPr/>
          <p:nvPr/>
        </p:nvSpPr>
        <p:spPr>
          <a:xfrm>
            <a:off x="9052560" y="4078080"/>
            <a:ext cx="26604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ADMIN CONTROL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7"/>
          <p:cNvSpPr/>
          <p:nvPr/>
        </p:nvSpPr>
        <p:spPr>
          <a:xfrm>
            <a:off x="8503920" y="4672440"/>
            <a:ext cx="3099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Manage clubs, players and match data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Technology lineup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155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8"/>
          <p:cNvSpPr/>
          <p:nvPr/>
        </p:nvSpPr>
        <p:spPr>
          <a:xfrm>
            <a:off x="640080" y="1755720"/>
            <a:ext cx="5440320" cy="11610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868680" y="19112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FRONTEND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868680" y="23227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HTML5 • CSS3 • JavaScript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1"/>
          <p:cNvSpPr/>
          <p:nvPr/>
        </p:nvSpPr>
        <p:spPr>
          <a:xfrm>
            <a:off x="6355080" y="1755720"/>
            <a:ext cx="5440320" cy="11610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6583680" y="19112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BACKEND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6583680" y="23227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Java 17 • Spring Boot 3.5.5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4"/>
          <p:cNvSpPr/>
          <p:nvPr/>
        </p:nvSpPr>
        <p:spPr>
          <a:xfrm>
            <a:off x="640080" y="3154680"/>
            <a:ext cx="5440320" cy="11610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868680" y="331020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DATABASE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868680" y="37216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MariaDB • MySQL Workbench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7"/>
          <p:cNvSpPr/>
          <p:nvPr/>
        </p:nvSpPr>
        <p:spPr>
          <a:xfrm>
            <a:off x="6355080" y="3154680"/>
            <a:ext cx="5440320" cy="11610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6583680" y="331020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SECURITY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6583680" y="37216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Spring Security • JWT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20"/>
          <p:cNvSpPr/>
          <p:nvPr/>
        </p:nvSpPr>
        <p:spPr>
          <a:xfrm>
            <a:off x="640080" y="4553640"/>
            <a:ext cx="5440320" cy="11610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868680" y="47091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APIs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868680" y="51206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RESTful endpoints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23"/>
          <p:cNvSpPr/>
          <p:nvPr/>
        </p:nvSpPr>
        <p:spPr>
          <a:xfrm>
            <a:off x="6355080" y="4553640"/>
            <a:ext cx="5440320" cy="11610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6583680" y="47091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PLAYER ANALYSIS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5"/>
          <p:cNvSpPr/>
          <p:nvPr/>
        </p:nvSpPr>
        <p:spPr>
          <a:xfrm>
            <a:off x="6583680" y="51206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Java-based statistical algorithms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How the system works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180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8"/>
          <p:cNvSpPr/>
          <p:nvPr/>
        </p:nvSpPr>
        <p:spPr>
          <a:xfrm>
            <a:off x="621720" y="2331720"/>
            <a:ext cx="2624040" cy="20844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804600" y="251460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01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804600" y="318204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BROWSER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HTML / CSS / JS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1"/>
          <p:cNvSpPr/>
          <p:nvPr/>
        </p:nvSpPr>
        <p:spPr>
          <a:xfrm>
            <a:off x="3255120" y="300852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5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→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2"/>
          <p:cNvSpPr/>
          <p:nvPr/>
        </p:nvSpPr>
        <p:spPr>
          <a:xfrm>
            <a:off x="3538800" y="2331720"/>
            <a:ext cx="2624040" cy="20844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3"/>
          <p:cNvSpPr/>
          <p:nvPr/>
        </p:nvSpPr>
        <p:spPr>
          <a:xfrm>
            <a:off x="3721680" y="251460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3721680" y="318204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REST API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Spring Controllers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5"/>
          <p:cNvSpPr/>
          <p:nvPr/>
        </p:nvSpPr>
        <p:spPr>
          <a:xfrm>
            <a:off x="6172200" y="300852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5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→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16"/>
          <p:cNvSpPr/>
          <p:nvPr/>
        </p:nvSpPr>
        <p:spPr>
          <a:xfrm>
            <a:off x="6455520" y="2331720"/>
            <a:ext cx="2624040" cy="20844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7"/>
          <p:cNvSpPr/>
          <p:nvPr/>
        </p:nvSpPr>
        <p:spPr>
          <a:xfrm>
            <a:off x="6638400" y="251460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8"/>
          <p:cNvSpPr/>
          <p:nvPr/>
        </p:nvSpPr>
        <p:spPr>
          <a:xfrm>
            <a:off x="6638400" y="318204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BUSINESS LOGIC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Services / Security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9"/>
          <p:cNvSpPr/>
          <p:nvPr/>
        </p:nvSpPr>
        <p:spPr>
          <a:xfrm>
            <a:off x="9089280" y="3008520"/>
            <a:ext cx="411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5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→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20"/>
          <p:cNvSpPr/>
          <p:nvPr/>
        </p:nvSpPr>
        <p:spPr>
          <a:xfrm>
            <a:off x="9372600" y="2331720"/>
            <a:ext cx="2624040" cy="20844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1"/>
          <p:cNvSpPr/>
          <p:nvPr/>
        </p:nvSpPr>
        <p:spPr>
          <a:xfrm>
            <a:off x="9555480" y="251460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04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2"/>
          <p:cNvSpPr/>
          <p:nvPr/>
        </p:nvSpPr>
        <p:spPr>
          <a:xfrm>
            <a:off x="9555480" y="318204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DATABASE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MariaDB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3"/>
          <p:cNvSpPr/>
          <p:nvPr/>
        </p:nvSpPr>
        <p:spPr>
          <a:xfrm>
            <a:off x="758880" y="505656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User interactions flow through protected APIs and application services before data is stored.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Matchday starts with your XI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203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8"/>
          <p:cNvSpPr/>
          <p:nvPr/>
        </p:nvSpPr>
        <p:spPr>
          <a:xfrm>
            <a:off x="6858000" y="1783080"/>
            <a:ext cx="4617360" cy="4388760"/>
          </a:xfrm>
          <a:prstGeom prst="rect">
            <a:avLst/>
          </a:prstGeom>
          <a:solidFill>
            <a:srgbClr val="0F654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9"/>
          <p:cNvSpPr/>
          <p:nvPr/>
        </p:nvSpPr>
        <p:spPr>
          <a:xfrm>
            <a:off x="6858000" y="1783080"/>
            <a:ext cx="384480" cy="438876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10"/>
          <p:cNvSpPr/>
          <p:nvPr/>
        </p:nvSpPr>
        <p:spPr>
          <a:xfrm>
            <a:off x="7627680" y="1783080"/>
            <a:ext cx="384480" cy="438876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11"/>
          <p:cNvSpPr/>
          <p:nvPr/>
        </p:nvSpPr>
        <p:spPr>
          <a:xfrm>
            <a:off x="8397360" y="1783080"/>
            <a:ext cx="384480" cy="438876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12"/>
          <p:cNvSpPr/>
          <p:nvPr/>
        </p:nvSpPr>
        <p:spPr>
          <a:xfrm>
            <a:off x="9167040" y="1783080"/>
            <a:ext cx="384480" cy="438876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13"/>
          <p:cNvSpPr/>
          <p:nvPr/>
        </p:nvSpPr>
        <p:spPr>
          <a:xfrm>
            <a:off x="9936360" y="1783080"/>
            <a:ext cx="384480" cy="438876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ectangle 14"/>
          <p:cNvSpPr/>
          <p:nvPr/>
        </p:nvSpPr>
        <p:spPr>
          <a:xfrm>
            <a:off x="10706040" y="1783080"/>
            <a:ext cx="384480" cy="438876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12" name="Connector 15"/>
          <p:cNvCxnSpPr/>
          <p:nvPr/>
        </p:nvCxnSpPr>
        <p:spPr>
          <a:xfrm>
            <a:off x="6995160" y="1920240"/>
            <a:ext cx="4343760" cy="3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213" name="Connector 16"/>
          <p:cNvCxnSpPr/>
          <p:nvPr/>
        </p:nvCxnSpPr>
        <p:spPr>
          <a:xfrm>
            <a:off x="6995160" y="6035040"/>
            <a:ext cx="4343760" cy="3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214" name="Connector 17"/>
          <p:cNvCxnSpPr/>
          <p:nvPr/>
        </p:nvCxnSpPr>
        <p:spPr>
          <a:xfrm>
            <a:off x="6995160" y="1920240"/>
            <a:ext cx="360" cy="41151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215" name="Connector 18"/>
          <p:cNvCxnSpPr/>
          <p:nvPr/>
        </p:nvCxnSpPr>
        <p:spPr>
          <a:xfrm>
            <a:off x="11338560" y="1920240"/>
            <a:ext cx="360" cy="41151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216" name="Connector 19"/>
          <p:cNvCxnSpPr/>
          <p:nvPr/>
        </p:nvCxnSpPr>
        <p:spPr>
          <a:xfrm>
            <a:off x="9166680" y="1920240"/>
            <a:ext cx="360" cy="41151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sp>
        <p:nvSpPr>
          <p:cNvPr id="217" name="Oval 20"/>
          <p:cNvSpPr/>
          <p:nvPr/>
        </p:nvSpPr>
        <p:spPr>
          <a:xfrm>
            <a:off x="8664120" y="3474720"/>
            <a:ext cx="1005480" cy="1005480"/>
          </a:xfrm>
          <a:prstGeom prst="ellipse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21"/>
          <p:cNvSpPr/>
          <p:nvPr/>
        </p:nvSpPr>
        <p:spPr>
          <a:xfrm>
            <a:off x="6995160" y="2971800"/>
            <a:ext cx="1096920" cy="2011320"/>
          </a:xfrm>
          <a:prstGeom prst="rect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22"/>
          <p:cNvSpPr/>
          <p:nvPr/>
        </p:nvSpPr>
        <p:spPr>
          <a:xfrm>
            <a:off x="10241280" y="2971800"/>
            <a:ext cx="1096920" cy="2011320"/>
          </a:xfrm>
          <a:prstGeom prst="rect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Oval 23"/>
          <p:cNvSpPr/>
          <p:nvPr/>
        </p:nvSpPr>
        <p:spPr>
          <a:xfrm>
            <a:off x="9025200" y="216720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Oval 24"/>
          <p:cNvSpPr/>
          <p:nvPr/>
        </p:nvSpPr>
        <p:spPr>
          <a:xfrm>
            <a:off x="7680960" y="306324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25"/>
          <p:cNvSpPr/>
          <p:nvPr/>
        </p:nvSpPr>
        <p:spPr>
          <a:xfrm>
            <a:off x="8595360" y="306324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26"/>
          <p:cNvSpPr/>
          <p:nvPr/>
        </p:nvSpPr>
        <p:spPr>
          <a:xfrm>
            <a:off x="9509760" y="306324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Oval 27"/>
          <p:cNvSpPr/>
          <p:nvPr/>
        </p:nvSpPr>
        <p:spPr>
          <a:xfrm>
            <a:off x="10424160" y="306324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Oval 28"/>
          <p:cNvSpPr/>
          <p:nvPr/>
        </p:nvSpPr>
        <p:spPr>
          <a:xfrm>
            <a:off x="7818120" y="408744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Oval 29"/>
          <p:cNvSpPr/>
          <p:nvPr/>
        </p:nvSpPr>
        <p:spPr>
          <a:xfrm>
            <a:off x="9006840" y="408744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Oval 30"/>
          <p:cNvSpPr/>
          <p:nvPr/>
        </p:nvSpPr>
        <p:spPr>
          <a:xfrm>
            <a:off x="10195560" y="408744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Oval 31"/>
          <p:cNvSpPr/>
          <p:nvPr/>
        </p:nvSpPr>
        <p:spPr>
          <a:xfrm>
            <a:off x="8092440" y="507492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Oval 32"/>
          <p:cNvSpPr/>
          <p:nvPr/>
        </p:nvSpPr>
        <p:spPr>
          <a:xfrm>
            <a:off x="9006840" y="507492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Oval 33"/>
          <p:cNvSpPr/>
          <p:nvPr/>
        </p:nvSpPr>
        <p:spPr>
          <a:xfrm>
            <a:off x="9921240" y="5074920"/>
            <a:ext cx="273960" cy="273960"/>
          </a:xfrm>
          <a:prstGeom prst="ellipse">
            <a:avLst/>
          </a:prstGeom>
          <a:solidFill>
            <a:srgbClr val="F5FAF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34"/>
          <p:cNvSpPr/>
          <p:nvPr/>
        </p:nvSpPr>
        <p:spPr>
          <a:xfrm>
            <a:off x="731520" y="179208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01  Browse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5"/>
          <p:cNvSpPr/>
          <p:nvPr/>
        </p:nvSpPr>
        <p:spPr>
          <a:xfrm>
            <a:off x="731520" y="2139840"/>
            <a:ext cx="5668920" cy="3217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 dirty="0">
                <a:solidFill>
                  <a:srgbClr val="132D28"/>
                </a:solidFill>
                <a:effectLst/>
                <a:uFillTx/>
                <a:latin typeface="Aptos"/>
              </a:rPr>
              <a:t>Explore clubs, players, prices and ratings</a:t>
            </a:r>
            <a:endParaRPr lang="en-US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6"/>
          <p:cNvSpPr/>
          <p:nvPr/>
        </p:nvSpPr>
        <p:spPr>
          <a:xfrm>
            <a:off x="731520" y="284364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02  Select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7"/>
          <p:cNvSpPr/>
          <p:nvPr/>
        </p:nvSpPr>
        <p:spPr>
          <a:xfrm>
            <a:off x="731520" y="3191400"/>
            <a:ext cx="5668920" cy="3217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Build an 11-player team within budget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8"/>
          <p:cNvSpPr/>
          <p:nvPr/>
        </p:nvSpPr>
        <p:spPr>
          <a:xfrm>
            <a:off x="731520" y="389520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03  Captain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9"/>
          <p:cNvSpPr/>
          <p:nvPr/>
        </p:nvSpPr>
        <p:spPr>
          <a:xfrm>
            <a:off x="731520" y="4242960"/>
            <a:ext cx="5668920" cy="3217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 dirty="0">
                <a:solidFill>
                  <a:srgbClr val="132D28"/>
                </a:solidFill>
                <a:effectLst/>
                <a:uFillTx/>
                <a:latin typeface="Aptos"/>
              </a:rPr>
              <a:t>Choose the player with 2× points</a:t>
            </a:r>
            <a:endParaRPr lang="en-US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0"/>
          <p:cNvSpPr/>
          <p:nvPr/>
        </p:nvSpPr>
        <p:spPr>
          <a:xfrm>
            <a:off x="731520" y="494676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04  Track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41"/>
          <p:cNvSpPr/>
          <p:nvPr/>
        </p:nvSpPr>
        <p:spPr>
          <a:xfrm>
            <a:off x="731520" y="5294520"/>
            <a:ext cx="5668920" cy="3217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 dirty="0">
                <a:solidFill>
                  <a:srgbClr val="132D28"/>
                </a:solidFill>
                <a:effectLst/>
                <a:uFillTx/>
                <a:latin typeface="Aptos"/>
              </a:rPr>
              <a:t>View fantasy points and rankings</a:t>
            </a:r>
            <a:endParaRPr lang="en-US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The admin control room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244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8"/>
          <p:cNvSpPr/>
          <p:nvPr/>
        </p:nvSpPr>
        <p:spPr>
          <a:xfrm>
            <a:off x="640080" y="1847160"/>
            <a:ext cx="5431320" cy="186516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ectangle 9"/>
          <p:cNvSpPr/>
          <p:nvPr/>
        </p:nvSpPr>
        <p:spPr>
          <a:xfrm>
            <a:off x="640080" y="1847160"/>
            <a:ext cx="63720" cy="186516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10"/>
          <p:cNvSpPr/>
          <p:nvPr/>
        </p:nvSpPr>
        <p:spPr>
          <a:xfrm>
            <a:off x="859680" y="19933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1444680" y="2030040"/>
            <a:ext cx="4489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CLUBS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896040" y="2624400"/>
            <a:ext cx="4928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Create and maintain club records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3"/>
          <p:cNvSpPr/>
          <p:nvPr/>
        </p:nvSpPr>
        <p:spPr>
          <a:xfrm>
            <a:off x="6309360" y="1847160"/>
            <a:ext cx="5431320" cy="186516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14"/>
          <p:cNvSpPr/>
          <p:nvPr/>
        </p:nvSpPr>
        <p:spPr>
          <a:xfrm>
            <a:off x="6309360" y="1847160"/>
            <a:ext cx="63720" cy="186516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5"/>
          <p:cNvSpPr/>
          <p:nvPr/>
        </p:nvSpPr>
        <p:spPr>
          <a:xfrm>
            <a:off x="6528960" y="19933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 dirty="0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6"/>
          <p:cNvSpPr/>
          <p:nvPr/>
        </p:nvSpPr>
        <p:spPr>
          <a:xfrm>
            <a:off x="7113960" y="2030040"/>
            <a:ext cx="4489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PLAYERS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7"/>
          <p:cNvSpPr/>
          <p:nvPr/>
        </p:nvSpPr>
        <p:spPr>
          <a:xfrm>
            <a:off x="6565320" y="2624400"/>
            <a:ext cx="4928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Update profiles, positions and prices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8"/>
          <p:cNvSpPr/>
          <p:nvPr/>
        </p:nvSpPr>
        <p:spPr>
          <a:xfrm>
            <a:off x="640080" y="3931920"/>
            <a:ext cx="5431320" cy="186516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19"/>
          <p:cNvSpPr/>
          <p:nvPr/>
        </p:nvSpPr>
        <p:spPr>
          <a:xfrm>
            <a:off x="640080" y="3931920"/>
            <a:ext cx="63720" cy="186516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1"/>
          <p:cNvSpPr/>
          <p:nvPr/>
        </p:nvSpPr>
        <p:spPr>
          <a:xfrm>
            <a:off x="1444680" y="4114800"/>
            <a:ext cx="4489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MATCHES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2"/>
          <p:cNvSpPr/>
          <p:nvPr/>
        </p:nvSpPr>
        <p:spPr>
          <a:xfrm>
            <a:off x="896040" y="4709160"/>
            <a:ext cx="4928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Record fixtures, results and performances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23"/>
          <p:cNvSpPr/>
          <p:nvPr/>
        </p:nvSpPr>
        <p:spPr>
          <a:xfrm>
            <a:off x="6309360" y="3931920"/>
            <a:ext cx="5431320" cy="186516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ectangle 24"/>
          <p:cNvSpPr/>
          <p:nvPr/>
        </p:nvSpPr>
        <p:spPr>
          <a:xfrm>
            <a:off x="6309360" y="3931920"/>
            <a:ext cx="63720" cy="186516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25"/>
          <p:cNvSpPr/>
          <p:nvPr/>
        </p:nvSpPr>
        <p:spPr>
          <a:xfrm>
            <a:off x="6528960" y="407808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6"/>
          <p:cNvSpPr/>
          <p:nvPr/>
        </p:nvSpPr>
        <p:spPr>
          <a:xfrm>
            <a:off x="7113960" y="4114800"/>
            <a:ext cx="4489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STATISTICS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7"/>
          <p:cNvSpPr/>
          <p:nvPr/>
        </p:nvSpPr>
        <p:spPr>
          <a:xfrm>
            <a:off x="6565320" y="4709160"/>
            <a:ext cx="4928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Enter match data used by scoring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0EBD5AA1-8818-02A4-CECE-776E27A1D462}"/>
              </a:ext>
            </a:extLst>
          </p:cNvPr>
          <p:cNvSpPr/>
          <p:nvPr/>
        </p:nvSpPr>
        <p:spPr>
          <a:xfrm>
            <a:off x="843497" y="404172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 dirty="0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Every action earns points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271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8"/>
          <p:cNvSpPr/>
          <p:nvPr/>
        </p:nvSpPr>
        <p:spPr>
          <a:xfrm>
            <a:off x="640080" y="184716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9"/>
          <p:cNvSpPr/>
          <p:nvPr/>
        </p:nvSpPr>
        <p:spPr>
          <a:xfrm>
            <a:off x="804600" y="20116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GOAL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0"/>
          <p:cNvSpPr/>
          <p:nvPr/>
        </p:nvSpPr>
        <p:spPr>
          <a:xfrm>
            <a:off x="804600" y="23774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+5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11"/>
          <p:cNvSpPr/>
          <p:nvPr/>
        </p:nvSpPr>
        <p:spPr>
          <a:xfrm>
            <a:off x="3529440" y="184716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12"/>
          <p:cNvSpPr/>
          <p:nvPr/>
        </p:nvSpPr>
        <p:spPr>
          <a:xfrm>
            <a:off x="3694320" y="20116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ASSIST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3"/>
          <p:cNvSpPr/>
          <p:nvPr/>
        </p:nvSpPr>
        <p:spPr>
          <a:xfrm>
            <a:off x="3694320" y="23774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+3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14"/>
          <p:cNvSpPr/>
          <p:nvPr/>
        </p:nvSpPr>
        <p:spPr>
          <a:xfrm>
            <a:off x="6419160" y="184716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5"/>
          <p:cNvSpPr/>
          <p:nvPr/>
        </p:nvSpPr>
        <p:spPr>
          <a:xfrm>
            <a:off x="6583680" y="20116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CLEAN SHEET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6"/>
          <p:cNvSpPr/>
          <p:nvPr/>
        </p:nvSpPr>
        <p:spPr>
          <a:xfrm>
            <a:off x="6583680" y="23774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+4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17"/>
          <p:cNvSpPr/>
          <p:nvPr/>
        </p:nvSpPr>
        <p:spPr>
          <a:xfrm>
            <a:off x="9308520" y="184716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8"/>
          <p:cNvSpPr/>
          <p:nvPr/>
        </p:nvSpPr>
        <p:spPr>
          <a:xfrm>
            <a:off x="9473040" y="201168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TEAM WIN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9"/>
          <p:cNvSpPr/>
          <p:nvPr/>
        </p:nvSpPr>
        <p:spPr>
          <a:xfrm>
            <a:off x="9473040" y="23774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+2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20"/>
          <p:cNvSpPr/>
          <p:nvPr/>
        </p:nvSpPr>
        <p:spPr>
          <a:xfrm>
            <a:off x="640080" y="340164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21"/>
          <p:cNvSpPr/>
          <p:nvPr/>
        </p:nvSpPr>
        <p:spPr>
          <a:xfrm>
            <a:off x="804600" y="35661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MAN OF THE MATCH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2"/>
          <p:cNvSpPr/>
          <p:nvPr/>
        </p:nvSpPr>
        <p:spPr>
          <a:xfrm>
            <a:off x="804600" y="393192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+5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23"/>
          <p:cNvSpPr/>
          <p:nvPr/>
        </p:nvSpPr>
        <p:spPr>
          <a:xfrm>
            <a:off x="3529440" y="340164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24"/>
          <p:cNvSpPr/>
          <p:nvPr/>
        </p:nvSpPr>
        <p:spPr>
          <a:xfrm>
            <a:off x="3694320" y="35661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AI RATING ≥ 8.0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5"/>
          <p:cNvSpPr/>
          <p:nvPr/>
        </p:nvSpPr>
        <p:spPr>
          <a:xfrm>
            <a:off x="3694320" y="393192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+3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26"/>
          <p:cNvSpPr/>
          <p:nvPr/>
        </p:nvSpPr>
        <p:spPr>
          <a:xfrm>
            <a:off x="6419160" y="340164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27"/>
          <p:cNvSpPr/>
          <p:nvPr/>
        </p:nvSpPr>
        <p:spPr>
          <a:xfrm>
            <a:off x="6583680" y="35661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YELLOW CARD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8"/>
          <p:cNvSpPr/>
          <p:nvPr/>
        </p:nvSpPr>
        <p:spPr>
          <a:xfrm>
            <a:off x="6583680" y="393192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FF6C78"/>
                </a:solidFill>
                <a:effectLst/>
                <a:uFillTx/>
                <a:latin typeface="Aptos"/>
              </a:rPr>
              <a:t>−1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29"/>
          <p:cNvSpPr/>
          <p:nvPr/>
        </p:nvSpPr>
        <p:spPr>
          <a:xfrm>
            <a:off x="9308520" y="3401640"/>
            <a:ext cx="2706120" cy="135288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30"/>
          <p:cNvSpPr/>
          <p:nvPr/>
        </p:nvSpPr>
        <p:spPr>
          <a:xfrm>
            <a:off x="9473040" y="35661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1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RED CARD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1"/>
          <p:cNvSpPr/>
          <p:nvPr/>
        </p:nvSpPr>
        <p:spPr>
          <a:xfrm>
            <a:off x="9473040" y="393192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FF6C78"/>
                </a:solidFill>
                <a:effectLst/>
                <a:uFillTx/>
                <a:latin typeface="Aptos"/>
              </a:rPr>
              <a:t>−3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32"/>
          <p:cNvSpPr/>
          <p:nvPr/>
        </p:nvSpPr>
        <p:spPr>
          <a:xfrm>
            <a:off x="640080" y="5193720"/>
            <a:ext cx="10954080" cy="639720"/>
          </a:xfrm>
          <a:prstGeom prst="roundRect">
            <a:avLst>
              <a:gd name="adj" fmla="val 16667"/>
            </a:avLst>
          </a:prstGeom>
          <a:solidFill>
            <a:srgbClr val="17473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33"/>
          <p:cNvSpPr/>
          <p:nvPr/>
        </p:nvSpPr>
        <p:spPr>
          <a:xfrm>
            <a:off x="914400" y="535824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CAPTAIN = 2× TOTAL POINTS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Player intelligence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304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Rounded Rectangle 8"/>
          <p:cNvSpPr/>
          <p:nvPr/>
        </p:nvSpPr>
        <p:spPr>
          <a:xfrm>
            <a:off x="658440" y="1856160"/>
            <a:ext cx="3547440" cy="356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Rectangle 9"/>
          <p:cNvSpPr/>
          <p:nvPr/>
        </p:nvSpPr>
        <p:spPr>
          <a:xfrm>
            <a:off x="658440" y="1856160"/>
            <a:ext cx="63720" cy="356580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0"/>
          <p:cNvSpPr/>
          <p:nvPr/>
        </p:nvSpPr>
        <p:spPr>
          <a:xfrm>
            <a:off x="877680" y="200268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★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1"/>
          <p:cNvSpPr/>
          <p:nvPr/>
        </p:nvSpPr>
        <p:spPr>
          <a:xfrm>
            <a:off x="1430382" y="2289415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 dirty="0">
                <a:solidFill>
                  <a:srgbClr val="F5FAF7"/>
                </a:solidFill>
                <a:effectLst/>
                <a:uFillTx/>
                <a:latin typeface="Aptos"/>
              </a:rPr>
              <a:t>PLAYER RATINGS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2"/>
          <p:cNvSpPr/>
          <p:nvPr/>
        </p:nvSpPr>
        <p:spPr>
          <a:xfrm>
            <a:off x="914400" y="3253886"/>
            <a:ext cx="304452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Performance-based FIFA-style ratings help users compare footballers.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3"/>
          <p:cNvSpPr/>
          <p:nvPr/>
        </p:nvSpPr>
        <p:spPr>
          <a:xfrm>
            <a:off x="4325040" y="1856160"/>
            <a:ext cx="3547440" cy="356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Rectangle 14"/>
          <p:cNvSpPr/>
          <p:nvPr/>
        </p:nvSpPr>
        <p:spPr>
          <a:xfrm>
            <a:off x="4325040" y="1856160"/>
            <a:ext cx="63720" cy="356580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15"/>
          <p:cNvSpPr/>
          <p:nvPr/>
        </p:nvSpPr>
        <p:spPr>
          <a:xfrm>
            <a:off x="4544640" y="200268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↗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5129640" y="2234988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 dirty="0">
                <a:solidFill>
                  <a:srgbClr val="F5FAF7"/>
                </a:solidFill>
                <a:effectLst/>
                <a:uFillTx/>
                <a:latin typeface="Aptos"/>
              </a:rPr>
              <a:t>FANTASY ADVICE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7"/>
          <p:cNvSpPr/>
          <p:nvPr/>
        </p:nvSpPr>
        <p:spPr>
          <a:xfrm>
            <a:off x="4581000" y="3210346"/>
            <a:ext cx="304452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Recommendations support smarter team choices using player statistics.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18"/>
          <p:cNvSpPr/>
          <p:nvPr/>
        </p:nvSpPr>
        <p:spPr>
          <a:xfrm>
            <a:off x="7992000" y="1856160"/>
            <a:ext cx="3547440" cy="3565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19"/>
          <p:cNvSpPr/>
          <p:nvPr/>
        </p:nvSpPr>
        <p:spPr>
          <a:xfrm>
            <a:off x="7992000" y="1856160"/>
            <a:ext cx="63720" cy="3565800"/>
          </a:xfrm>
          <a:prstGeom prst="rect">
            <a:avLst/>
          </a:prstGeom>
          <a:solidFill>
            <a:srgbClr val="79C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20"/>
          <p:cNvSpPr/>
          <p:nvPr/>
        </p:nvSpPr>
        <p:spPr>
          <a:xfrm>
            <a:off x="8211240" y="2002680"/>
            <a:ext cx="594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800" b="1" u="none" strike="noStrike">
                <a:solidFill>
                  <a:srgbClr val="79C5FF"/>
                </a:solidFill>
                <a:effectLst/>
                <a:uFillTx/>
                <a:latin typeface="Aptos"/>
              </a:rPr>
              <a:t>⌁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1"/>
          <p:cNvSpPr/>
          <p:nvPr/>
        </p:nvSpPr>
        <p:spPr>
          <a:xfrm>
            <a:off x="8796600" y="2169670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 dirty="0">
                <a:solidFill>
                  <a:srgbClr val="F5FAF7"/>
                </a:solidFill>
                <a:effectLst/>
                <a:uFillTx/>
                <a:latin typeface="Aptos"/>
              </a:rPr>
              <a:t>DEVELOPMENT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2"/>
          <p:cNvSpPr/>
          <p:nvPr/>
        </p:nvSpPr>
        <p:spPr>
          <a:xfrm>
            <a:off x="8247960" y="3145031"/>
            <a:ext cx="30445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Rating history can help show how players perform over time.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3"/>
          <p:cNvSpPr/>
          <p:nvPr/>
        </p:nvSpPr>
        <p:spPr>
          <a:xfrm>
            <a:off x="777240" y="57880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Note: Spring AI framework integration is not confirmed in the inspected source.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ERD  |  Core relationships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26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327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9"/>
          <p:cNvSpPr/>
          <p:nvPr/>
        </p:nvSpPr>
        <p:spPr>
          <a:xfrm>
            <a:off x="841320" y="2084760"/>
            <a:ext cx="221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USER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11"/>
          <p:cNvSpPr/>
          <p:nvPr/>
        </p:nvSpPr>
        <p:spPr>
          <a:xfrm>
            <a:off x="3996000" y="2084760"/>
            <a:ext cx="221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FANTASY TEAM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3"/>
          <p:cNvSpPr/>
          <p:nvPr/>
        </p:nvSpPr>
        <p:spPr>
          <a:xfrm>
            <a:off x="7150680" y="2084760"/>
            <a:ext cx="221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F5FAF7"/>
                </a:solidFill>
                <a:effectLst/>
                <a:uFillTx/>
                <a:latin typeface="Aptos"/>
              </a:rPr>
              <a:t>TEAM PLAYER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5"/>
          <p:cNvSpPr/>
          <p:nvPr/>
        </p:nvSpPr>
        <p:spPr>
          <a:xfrm>
            <a:off x="9619560" y="2084760"/>
            <a:ext cx="221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PLAYER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7"/>
          <p:cNvSpPr/>
          <p:nvPr/>
        </p:nvSpPr>
        <p:spPr>
          <a:xfrm>
            <a:off x="9619560" y="4736520"/>
            <a:ext cx="221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CLUB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9"/>
          <p:cNvSpPr/>
          <p:nvPr/>
        </p:nvSpPr>
        <p:spPr>
          <a:xfrm>
            <a:off x="3996000" y="4736520"/>
            <a:ext cx="221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MATCH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1"/>
          <p:cNvSpPr/>
          <p:nvPr/>
        </p:nvSpPr>
        <p:spPr>
          <a:xfrm>
            <a:off x="7150680" y="4736520"/>
            <a:ext cx="221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PERFORMANCE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29"/>
          <p:cNvSpPr/>
          <p:nvPr/>
        </p:nvSpPr>
        <p:spPr>
          <a:xfrm>
            <a:off x="731520" y="581544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Conceptual relationship overview — confirm final keys and cardinalities against JPA entities.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94D02A-B53A-B106-D9C0-2D4D16BF8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990" y="1538702"/>
            <a:ext cx="9296944" cy="42244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Database at the heart of the game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55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356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8"/>
          <p:cNvSpPr/>
          <p:nvPr/>
        </p:nvSpPr>
        <p:spPr>
          <a:xfrm>
            <a:off x="640080" y="1874520"/>
            <a:ext cx="5440320" cy="1828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Rectangle 9"/>
          <p:cNvSpPr/>
          <p:nvPr/>
        </p:nvSpPr>
        <p:spPr>
          <a:xfrm>
            <a:off x="640080" y="1874520"/>
            <a:ext cx="63720" cy="18284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10"/>
          <p:cNvSpPr/>
          <p:nvPr/>
        </p:nvSpPr>
        <p:spPr>
          <a:xfrm>
            <a:off x="896040" y="2057400"/>
            <a:ext cx="5047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IDENTITY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896040" y="2651760"/>
            <a:ext cx="4937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Users and authentication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12"/>
          <p:cNvSpPr/>
          <p:nvPr/>
        </p:nvSpPr>
        <p:spPr>
          <a:xfrm>
            <a:off x="6309360" y="1874520"/>
            <a:ext cx="5440320" cy="1828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Rectangle 13"/>
          <p:cNvSpPr/>
          <p:nvPr/>
        </p:nvSpPr>
        <p:spPr>
          <a:xfrm>
            <a:off x="6309360" y="1874520"/>
            <a:ext cx="63720" cy="182844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14"/>
          <p:cNvSpPr/>
          <p:nvPr/>
        </p:nvSpPr>
        <p:spPr>
          <a:xfrm>
            <a:off x="6565320" y="2057400"/>
            <a:ext cx="5047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FOOTBALL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5"/>
          <p:cNvSpPr/>
          <p:nvPr/>
        </p:nvSpPr>
        <p:spPr>
          <a:xfrm>
            <a:off x="6565320" y="2651760"/>
            <a:ext cx="4937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Clubs, players and matches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16"/>
          <p:cNvSpPr/>
          <p:nvPr/>
        </p:nvSpPr>
        <p:spPr>
          <a:xfrm>
            <a:off x="640080" y="3886200"/>
            <a:ext cx="5440320" cy="1828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17"/>
          <p:cNvSpPr/>
          <p:nvPr/>
        </p:nvSpPr>
        <p:spPr>
          <a:xfrm>
            <a:off x="640080" y="3886200"/>
            <a:ext cx="63720" cy="18284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8"/>
          <p:cNvSpPr/>
          <p:nvPr/>
        </p:nvSpPr>
        <p:spPr>
          <a:xfrm>
            <a:off x="896040" y="4069080"/>
            <a:ext cx="5047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FANTASY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9"/>
          <p:cNvSpPr/>
          <p:nvPr/>
        </p:nvSpPr>
        <p:spPr>
          <a:xfrm>
            <a:off x="896040" y="4663440"/>
            <a:ext cx="4937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Teams, selections and points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20"/>
          <p:cNvSpPr/>
          <p:nvPr/>
        </p:nvSpPr>
        <p:spPr>
          <a:xfrm>
            <a:off x="6309360" y="3886200"/>
            <a:ext cx="5440320" cy="1828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ectangle 21"/>
          <p:cNvSpPr/>
          <p:nvPr/>
        </p:nvSpPr>
        <p:spPr>
          <a:xfrm>
            <a:off x="6309360" y="3886200"/>
            <a:ext cx="63720" cy="1828440"/>
          </a:xfrm>
          <a:prstGeom prst="rect">
            <a:avLst/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22"/>
          <p:cNvSpPr/>
          <p:nvPr/>
        </p:nvSpPr>
        <p:spPr>
          <a:xfrm>
            <a:off x="6565320" y="4069080"/>
            <a:ext cx="5047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PERFORMANCE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3"/>
          <p:cNvSpPr/>
          <p:nvPr/>
        </p:nvSpPr>
        <p:spPr>
          <a:xfrm>
            <a:off x="6565320" y="4663440"/>
            <a:ext cx="49374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Player match statistics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|  Five contributors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78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379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8"/>
          <p:cNvSpPr/>
          <p:nvPr/>
        </p:nvSpPr>
        <p:spPr>
          <a:xfrm>
            <a:off x="685800" y="1755720"/>
            <a:ext cx="10789560" cy="676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ounded Rectangle 9"/>
          <p:cNvSpPr/>
          <p:nvPr/>
        </p:nvSpPr>
        <p:spPr>
          <a:xfrm>
            <a:off x="685800" y="1755720"/>
            <a:ext cx="639720" cy="676440"/>
          </a:xfrm>
          <a:prstGeom prst="roundRect">
            <a:avLst>
              <a:gd name="adj" fmla="val 16667"/>
            </a:avLst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10"/>
          <p:cNvSpPr/>
          <p:nvPr/>
        </p:nvSpPr>
        <p:spPr>
          <a:xfrm>
            <a:off x="831960" y="193860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081C1B"/>
                </a:solidFill>
                <a:effectLst/>
                <a:uFillTx/>
                <a:latin typeface="Aptos"/>
              </a:rPr>
              <a:t>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1"/>
          <p:cNvSpPr/>
          <p:nvPr/>
        </p:nvSpPr>
        <p:spPr>
          <a:xfrm>
            <a:off x="1536120" y="190188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Almonther Alwaili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2"/>
          <p:cNvSpPr/>
          <p:nvPr/>
        </p:nvSpPr>
        <p:spPr>
          <a:xfrm>
            <a:off x="6492240" y="19386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Contribution to be confirmed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13"/>
          <p:cNvSpPr/>
          <p:nvPr/>
        </p:nvSpPr>
        <p:spPr>
          <a:xfrm>
            <a:off x="685800" y="2578680"/>
            <a:ext cx="10789560" cy="676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ounded Rectangle 14"/>
          <p:cNvSpPr/>
          <p:nvPr/>
        </p:nvSpPr>
        <p:spPr>
          <a:xfrm>
            <a:off x="685800" y="2578680"/>
            <a:ext cx="639720" cy="676440"/>
          </a:xfrm>
          <a:prstGeom prst="roundRect">
            <a:avLst>
              <a:gd name="adj" fmla="val 16667"/>
            </a:avLst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15"/>
          <p:cNvSpPr/>
          <p:nvPr/>
        </p:nvSpPr>
        <p:spPr>
          <a:xfrm>
            <a:off x="831960" y="276156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081C1B"/>
                </a:solidFill>
                <a:effectLst/>
                <a:uFillTx/>
                <a:latin typeface="Aptos"/>
              </a:rPr>
              <a:t>02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6"/>
          <p:cNvSpPr/>
          <p:nvPr/>
        </p:nvSpPr>
        <p:spPr>
          <a:xfrm>
            <a:off x="1536120" y="272484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Mohammed Alhamrashdi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7"/>
          <p:cNvSpPr/>
          <p:nvPr/>
        </p:nvSpPr>
        <p:spPr>
          <a:xfrm>
            <a:off x="6492240" y="27615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Contribution to be confirmed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18"/>
          <p:cNvSpPr/>
          <p:nvPr/>
        </p:nvSpPr>
        <p:spPr>
          <a:xfrm>
            <a:off x="685800" y="3401640"/>
            <a:ext cx="10789560" cy="676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Rounded Rectangle 19"/>
          <p:cNvSpPr/>
          <p:nvPr/>
        </p:nvSpPr>
        <p:spPr>
          <a:xfrm>
            <a:off x="685800" y="3401640"/>
            <a:ext cx="639720" cy="676440"/>
          </a:xfrm>
          <a:prstGeom prst="roundRect">
            <a:avLst>
              <a:gd name="adj" fmla="val 16667"/>
            </a:avLst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20"/>
          <p:cNvSpPr/>
          <p:nvPr/>
        </p:nvSpPr>
        <p:spPr>
          <a:xfrm>
            <a:off x="831960" y="358452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081C1B"/>
                </a:solidFill>
                <a:effectLst/>
                <a:uFillTx/>
                <a:latin typeface="Aptos"/>
              </a:rPr>
              <a:t>03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21"/>
          <p:cNvSpPr/>
          <p:nvPr/>
        </p:nvSpPr>
        <p:spPr>
          <a:xfrm>
            <a:off x="1536120" y="35478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Rashid Alshibli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22"/>
          <p:cNvSpPr/>
          <p:nvPr/>
        </p:nvSpPr>
        <p:spPr>
          <a:xfrm>
            <a:off x="6492240" y="35845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Contribution to be confirmed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23"/>
          <p:cNvSpPr/>
          <p:nvPr/>
        </p:nvSpPr>
        <p:spPr>
          <a:xfrm>
            <a:off x="685800" y="4224600"/>
            <a:ext cx="10789560" cy="676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Rounded Rectangle 24"/>
          <p:cNvSpPr/>
          <p:nvPr/>
        </p:nvSpPr>
        <p:spPr>
          <a:xfrm>
            <a:off x="685800" y="4224600"/>
            <a:ext cx="639720" cy="676440"/>
          </a:xfrm>
          <a:prstGeom prst="roundRect">
            <a:avLst>
              <a:gd name="adj" fmla="val 16667"/>
            </a:avLst>
          </a:prstGeom>
          <a:solidFill>
            <a:srgbClr val="F7C65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25"/>
          <p:cNvSpPr/>
          <p:nvPr/>
        </p:nvSpPr>
        <p:spPr>
          <a:xfrm>
            <a:off x="831960" y="440748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081C1B"/>
                </a:solidFill>
                <a:effectLst/>
                <a:uFillTx/>
                <a:latin typeface="Aptos"/>
              </a:rPr>
              <a:t>04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26"/>
          <p:cNvSpPr/>
          <p:nvPr/>
        </p:nvSpPr>
        <p:spPr>
          <a:xfrm>
            <a:off x="1536120" y="437076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Salima Alsaidi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27"/>
          <p:cNvSpPr/>
          <p:nvPr/>
        </p:nvSpPr>
        <p:spPr>
          <a:xfrm>
            <a:off x="6492240" y="44074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Contribution to be confirmed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Rounded Rectangle 28"/>
          <p:cNvSpPr/>
          <p:nvPr/>
        </p:nvSpPr>
        <p:spPr>
          <a:xfrm>
            <a:off x="685800" y="5047560"/>
            <a:ext cx="10789560" cy="67644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Rounded Rectangle 29"/>
          <p:cNvSpPr/>
          <p:nvPr/>
        </p:nvSpPr>
        <p:spPr>
          <a:xfrm>
            <a:off x="685800" y="5047560"/>
            <a:ext cx="639720" cy="676440"/>
          </a:xfrm>
          <a:prstGeom prst="roundRect">
            <a:avLst>
              <a:gd name="adj" fmla="val 16667"/>
            </a:avLst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30"/>
          <p:cNvSpPr/>
          <p:nvPr/>
        </p:nvSpPr>
        <p:spPr>
          <a:xfrm>
            <a:off x="831960" y="523044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081C1B"/>
                </a:solidFill>
                <a:effectLst/>
                <a:uFillTx/>
                <a:latin typeface="Aptos"/>
              </a:rPr>
              <a:t>05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1"/>
          <p:cNvSpPr/>
          <p:nvPr/>
        </p:nvSpPr>
        <p:spPr>
          <a:xfrm>
            <a:off x="1536120" y="51937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Salwa Al Zuhibi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32"/>
          <p:cNvSpPr/>
          <p:nvPr/>
        </p:nvSpPr>
        <p:spPr>
          <a:xfrm>
            <a:off x="6492240" y="52304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A6C2B8"/>
                </a:solidFill>
                <a:effectLst/>
                <a:uFillTx/>
                <a:latin typeface="Aptos"/>
              </a:rPr>
              <a:t>Contribution to be confirmed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Quality checks before kickoff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0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411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Rounded Rectangle 8"/>
          <p:cNvSpPr/>
          <p:nvPr/>
        </p:nvSpPr>
        <p:spPr>
          <a:xfrm>
            <a:off x="640080" y="1764720"/>
            <a:ext cx="5440320" cy="120672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9"/>
          <p:cNvSpPr/>
          <p:nvPr/>
        </p:nvSpPr>
        <p:spPr>
          <a:xfrm>
            <a:off x="82296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 dirty="0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10"/>
          <p:cNvSpPr/>
          <p:nvPr/>
        </p:nvSpPr>
        <p:spPr>
          <a:xfrm>
            <a:off x="1307520" y="189288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LOGIN &amp; ROLES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1"/>
          <p:cNvSpPr/>
          <p:nvPr/>
        </p:nvSpPr>
        <p:spPr>
          <a:xfrm>
            <a:off x="1307520" y="2331720"/>
            <a:ext cx="45259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Test user/admin access boundaries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12"/>
          <p:cNvSpPr/>
          <p:nvPr/>
        </p:nvSpPr>
        <p:spPr>
          <a:xfrm>
            <a:off x="6309360" y="1764720"/>
            <a:ext cx="5440320" cy="120672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13"/>
          <p:cNvSpPr/>
          <p:nvPr/>
        </p:nvSpPr>
        <p:spPr>
          <a:xfrm>
            <a:off x="6492240" y="208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4"/>
          <p:cNvSpPr/>
          <p:nvPr/>
        </p:nvSpPr>
        <p:spPr>
          <a:xfrm>
            <a:off x="6976800" y="189288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FANTASY RULES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5"/>
          <p:cNvSpPr/>
          <p:nvPr/>
        </p:nvSpPr>
        <p:spPr>
          <a:xfrm>
            <a:off x="6976800" y="2331720"/>
            <a:ext cx="45259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Validate budget, 11-player limit and captain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Rounded Rectangle 16"/>
          <p:cNvSpPr/>
          <p:nvPr/>
        </p:nvSpPr>
        <p:spPr>
          <a:xfrm>
            <a:off x="640080" y="3163680"/>
            <a:ext cx="5440320" cy="120672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17"/>
          <p:cNvSpPr/>
          <p:nvPr/>
        </p:nvSpPr>
        <p:spPr>
          <a:xfrm>
            <a:off x="822960" y="3483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8"/>
          <p:cNvSpPr/>
          <p:nvPr/>
        </p:nvSpPr>
        <p:spPr>
          <a:xfrm>
            <a:off x="1307520" y="329184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SCORING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9"/>
          <p:cNvSpPr/>
          <p:nvPr/>
        </p:nvSpPr>
        <p:spPr>
          <a:xfrm>
            <a:off x="1307520" y="3730680"/>
            <a:ext cx="45259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Confirm every scoring rule and leaderboard update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20"/>
          <p:cNvSpPr/>
          <p:nvPr/>
        </p:nvSpPr>
        <p:spPr>
          <a:xfrm>
            <a:off x="6309360" y="3163680"/>
            <a:ext cx="5440320" cy="120672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Box 21"/>
          <p:cNvSpPr/>
          <p:nvPr/>
        </p:nvSpPr>
        <p:spPr>
          <a:xfrm>
            <a:off x="6492240" y="3483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22"/>
          <p:cNvSpPr/>
          <p:nvPr/>
        </p:nvSpPr>
        <p:spPr>
          <a:xfrm>
            <a:off x="6976800" y="329184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AI &amp; API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3"/>
          <p:cNvSpPr/>
          <p:nvPr/>
        </p:nvSpPr>
        <p:spPr>
          <a:xfrm>
            <a:off x="6976800" y="3730680"/>
            <a:ext cx="45259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Check endpoints and fallback behavior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Rounded Rectangle 24"/>
          <p:cNvSpPr/>
          <p:nvPr/>
        </p:nvSpPr>
        <p:spPr>
          <a:xfrm>
            <a:off x="640080" y="4563000"/>
            <a:ext cx="5440320" cy="120672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25"/>
          <p:cNvSpPr/>
          <p:nvPr/>
        </p:nvSpPr>
        <p:spPr>
          <a:xfrm>
            <a:off x="822960" y="4883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26"/>
          <p:cNvSpPr/>
          <p:nvPr/>
        </p:nvSpPr>
        <p:spPr>
          <a:xfrm>
            <a:off x="1307520" y="469080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DATABASE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7"/>
          <p:cNvSpPr/>
          <p:nvPr/>
        </p:nvSpPr>
        <p:spPr>
          <a:xfrm>
            <a:off x="1307520" y="5129640"/>
            <a:ext cx="45259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Run with a clean MariaDB setup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28"/>
          <p:cNvSpPr/>
          <p:nvPr/>
        </p:nvSpPr>
        <p:spPr>
          <a:xfrm>
            <a:off x="6309360" y="4563000"/>
            <a:ext cx="5440320" cy="120672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29"/>
          <p:cNvSpPr/>
          <p:nvPr/>
        </p:nvSpPr>
        <p:spPr>
          <a:xfrm>
            <a:off x="6492240" y="4883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30"/>
          <p:cNvSpPr/>
          <p:nvPr/>
        </p:nvSpPr>
        <p:spPr>
          <a:xfrm>
            <a:off x="6976800" y="469080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SECURITY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31"/>
          <p:cNvSpPr/>
          <p:nvPr/>
        </p:nvSpPr>
        <p:spPr>
          <a:xfrm>
            <a:off x="6976800" y="5129640"/>
            <a:ext cx="45259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Rotate exposed SMTP password and review CORS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Live demo  |  The match plan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41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442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14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Rounded Rectangle 8"/>
          <p:cNvSpPr/>
          <p:nvPr/>
        </p:nvSpPr>
        <p:spPr>
          <a:xfrm>
            <a:off x="658440" y="1828800"/>
            <a:ext cx="3611520" cy="1846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Box 9"/>
          <p:cNvSpPr/>
          <p:nvPr/>
        </p:nvSpPr>
        <p:spPr>
          <a:xfrm>
            <a:off x="841320" y="20116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10"/>
          <p:cNvSpPr/>
          <p:nvPr/>
        </p:nvSpPr>
        <p:spPr>
          <a:xfrm>
            <a:off x="841320" y="2541960"/>
            <a:ext cx="3200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LOG IN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11"/>
          <p:cNvSpPr/>
          <p:nvPr/>
        </p:nvSpPr>
        <p:spPr>
          <a:xfrm>
            <a:off x="841320" y="3026520"/>
            <a:ext cx="32000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User authentication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Rounded Rectangle 12"/>
          <p:cNvSpPr/>
          <p:nvPr/>
        </p:nvSpPr>
        <p:spPr>
          <a:xfrm>
            <a:off x="4453200" y="1828800"/>
            <a:ext cx="3611520" cy="1846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13"/>
          <p:cNvSpPr/>
          <p:nvPr/>
        </p:nvSpPr>
        <p:spPr>
          <a:xfrm>
            <a:off x="4636080" y="20116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14"/>
          <p:cNvSpPr/>
          <p:nvPr/>
        </p:nvSpPr>
        <p:spPr>
          <a:xfrm>
            <a:off x="4636080" y="2541960"/>
            <a:ext cx="3200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EXPLORE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15"/>
          <p:cNvSpPr/>
          <p:nvPr/>
        </p:nvSpPr>
        <p:spPr>
          <a:xfrm>
            <a:off x="4636080" y="3026520"/>
            <a:ext cx="32000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Players and clubs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ounded Rectangle 16"/>
          <p:cNvSpPr/>
          <p:nvPr/>
        </p:nvSpPr>
        <p:spPr>
          <a:xfrm>
            <a:off x="8247960" y="1828800"/>
            <a:ext cx="3611520" cy="1846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17"/>
          <p:cNvSpPr/>
          <p:nvPr/>
        </p:nvSpPr>
        <p:spPr>
          <a:xfrm>
            <a:off x="8430840" y="20116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8"/>
          <p:cNvSpPr/>
          <p:nvPr/>
        </p:nvSpPr>
        <p:spPr>
          <a:xfrm>
            <a:off x="8430840" y="2541960"/>
            <a:ext cx="3200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BUILD XI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19"/>
          <p:cNvSpPr/>
          <p:nvPr/>
        </p:nvSpPr>
        <p:spPr>
          <a:xfrm>
            <a:off x="8430840" y="3026520"/>
            <a:ext cx="32000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Budget and captain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Rounded Rectangle 20"/>
          <p:cNvSpPr/>
          <p:nvPr/>
        </p:nvSpPr>
        <p:spPr>
          <a:xfrm>
            <a:off x="658440" y="3895200"/>
            <a:ext cx="3611520" cy="1846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21"/>
          <p:cNvSpPr/>
          <p:nvPr/>
        </p:nvSpPr>
        <p:spPr>
          <a:xfrm>
            <a:off x="841320" y="40780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22"/>
          <p:cNvSpPr/>
          <p:nvPr/>
        </p:nvSpPr>
        <p:spPr>
          <a:xfrm>
            <a:off x="841320" y="4608720"/>
            <a:ext cx="3200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SCORE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23"/>
          <p:cNvSpPr/>
          <p:nvPr/>
        </p:nvSpPr>
        <p:spPr>
          <a:xfrm>
            <a:off x="841320" y="5093280"/>
            <a:ext cx="32000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Points and leaderboard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Rounded Rectangle 24"/>
          <p:cNvSpPr/>
          <p:nvPr/>
        </p:nvSpPr>
        <p:spPr>
          <a:xfrm>
            <a:off x="4453200" y="3895200"/>
            <a:ext cx="3611520" cy="1846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TextBox 25"/>
          <p:cNvSpPr/>
          <p:nvPr/>
        </p:nvSpPr>
        <p:spPr>
          <a:xfrm>
            <a:off x="4636080" y="40780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26"/>
          <p:cNvSpPr/>
          <p:nvPr/>
        </p:nvSpPr>
        <p:spPr>
          <a:xfrm>
            <a:off x="4636080" y="4608720"/>
            <a:ext cx="3200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ANALYZE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27"/>
          <p:cNvSpPr/>
          <p:nvPr/>
        </p:nvSpPr>
        <p:spPr>
          <a:xfrm>
            <a:off x="4636080" y="5093280"/>
            <a:ext cx="32000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Ratings and advice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ounded Rectangle 28"/>
          <p:cNvSpPr/>
          <p:nvPr/>
        </p:nvSpPr>
        <p:spPr>
          <a:xfrm>
            <a:off x="8247960" y="3895200"/>
            <a:ext cx="3611520" cy="1846800"/>
          </a:xfrm>
          <a:prstGeom prst="roundRect">
            <a:avLst>
              <a:gd name="adj" fmla="val 16667"/>
            </a:avLst>
          </a:prstGeom>
          <a:solidFill>
            <a:srgbClr val="102E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29"/>
          <p:cNvSpPr/>
          <p:nvPr/>
        </p:nvSpPr>
        <p:spPr>
          <a:xfrm>
            <a:off x="8430840" y="40780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06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30"/>
          <p:cNvSpPr/>
          <p:nvPr/>
        </p:nvSpPr>
        <p:spPr>
          <a:xfrm>
            <a:off x="8430840" y="4608720"/>
            <a:ext cx="32000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1" u="none" strike="noStrike">
                <a:solidFill>
                  <a:srgbClr val="F5FAF7"/>
                </a:solidFill>
                <a:effectLst/>
                <a:uFillTx/>
                <a:latin typeface="Aptos"/>
              </a:rPr>
              <a:t>ADMIN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31"/>
          <p:cNvSpPr/>
          <p:nvPr/>
        </p:nvSpPr>
        <p:spPr>
          <a:xfrm>
            <a:off x="8430840" y="5093280"/>
            <a:ext cx="32000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 dirty="0">
                <a:solidFill>
                  <a:srgbClr val="A6C2B8"/>
                </a:solidFill>
                <a:effectLst/>
                <a:uFillTx/>
                <a:latin typeface="Aptos"/>
              </a:rPr>
              <a:t>Manage match statistics</a:t>
            </a:r>
            <a:endParaRPr lang="en-US" sz="13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B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 b="1" dirty="0">
                <a:solidFill/>
              </a:rPr>
              <a:t>TEAM 1  /  SPEAKER FLOW  /  </a:t>
            </a:r>
            <a:r>
              <a:rPr lang="en-US" b="1" dirty="0">
                <a:solidFill/>
              </a:rPr>
              <a:t>Mohammed</a:t>
            </a:r>
            <a:endParaRPr b="1" dirty="0">
              <a:solidFill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6876" y="730214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AF6"/>
                </a:solidFill>
                <a:latin typeface="Aptos"/>
              </a:defRPr>
            </a:pPr>
            <a:r>
              <a:rPr b="1" dirty="0">
                <a:solidFill/>
              </a:rPr>
              <a:t>Mohammed </a:t>
            </a:r>
            <a:r>
              <a:rPr b="1" dirty="0" err="1">
                <a:solidFill/>
              </a:rPr>
              <a:t>Alhamrashdi</a:t>
            </a:r>
            <a:endParaRPr b="1" dirty="0">
              <a:solidFill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1CFC1"/>
                </a:solidFill>
                <a:latin typeface="Aptos"/>
              </a:defRPr>
            </a:pPr>
            <a:r>
              <a:rPr b="1" dirty="0">
                <a:solidFill/>
              </a:rPr>
              <a:t>Security, authentication &amp;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" name="TextBox 11"/>
          <p:cNvSpPr txBox="1"/>
          <p:nvPr/>
        </p:nvSpPr>
        <p:spPr>
          <a:xfrm>
            <a:off x="804671" y="233172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rPr b="1"/>
              <a:t>01  Start the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68833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 dirty="0"/>
              <a:t>Introduce TASHKEELA and the full-stack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rPr b="1"/>
              <a:t>02  Register and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8833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/>
              <a:t>Show registration, OTP email and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TextBox 17"/>
          <p:cNvSpPr txBox="1"/>
          <p:nvPr/>
        </p:nvSpPr>
        <p:spPr>
          <a:xfrm>
            <a:off x="804671" y="365760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rPr b="1"/>
              <a:t>03  Log in securely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1421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/>
              <a:t>Explain Spring Security, JWT and protected routes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" name="TextBox 20"/>
          <p:cNvSpPr txBox="1"/>
          <p:nvPr/>
        </p:nvSpPr>
        <p:spPr>
          <a:xfrm>
            <a:off x="6428232" y="365760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rPr b="1"/>
              <a:t>04  Share a fantasy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01421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/>
              <a:t>Demonstrate team-sharing link and common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1CFC1"/>
                </a:solidFill>
                <a:latin typeface="Aptos"/>
              </a:defRPr>
            </a:pPr>
            <a:r>
              <a:rPr b="1" dirty="0">
                <a:solidFill/>
              </a:rPr>
              <a:t>SHOW IN DEMO: login.html  •  register.html  •  verify.html  •  index.html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 b="1">
                <a:solidFill/>
              </a:rPr>
              <a:t>HANDOFF  →  SALWA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B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 dirty="0">
                <a:solidFill/>
              </a:rPr>
              <a:t>TEAM 1  /  SPEAKER FLOW  /  S</a:t>
            </a:r>
            <a:r>
              <a:rPr lang="en-US" dirty="0">
                <a:solidFill/>
              </a:rPr>
              <a:t>alwa</a:t>
            </a:r>
            <a:endParaRPr dirty="0">
              <a:solidFill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1647" y="735656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AF6"/>
                </a:solidFill>
                <a:latin typeface="Aptos"/>
              </a:defRPr>
            </a:pPr>
            <a:r>
              <a:rPr dirty="0">
                <a:solidFill/>
              </a:rPr>
              <a:t>Salwa Al </a:t>
            </a:r>
            <a:r>
              <a:rPr dirty="0" err="1">
                <a:solidFill/>
              </a:rPr>
              <a:t>Zuhibi</a:t>
            </a:r>
            <a:endParaRPr dirty="0">
              <a:solidFill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1CFC1"/>
                </a:solidFill>
                <a:latin typeface="Aptos"/>
              </a:defRPr>
            </a:pPr>
            <a:r>
              <a:rPr b="1" dirty="0">
                <a:solidFill/>
              </a:rPr>
              <a:t>Clubs, admin dashboard &amp; challenges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01  Browse Omani clubs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68833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 dirty="0"/>
              <a:t>Show club information and club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02  Enter admin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8833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 dirty="0"/>
              <a:t>Explain admin management and access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03  Manage club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1421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 dirty="0"/>
              <a:t>Show create/edit operations with prepared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04  Explore extras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014216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rPr b="1" dirty="0"/>
              <a:t>Describe weekly challenges, badges and What-If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99801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1CFC1"/>
                </a:solidFill>
                <a:latin typeface="Aptos"/>
              </a:defRPr>
            </a:pPr>
            <a:r>
              <a:rPr b="1" dirty="0">
                <a:solidFill/>
              </a:rPr>
              <a:t>SHOW IN DEMO: clubs.html  •  admin.html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>
                <a:solidFill/>
              </a:rPr>
              <a:t>HANDOFF  →  SALIMA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B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 dirty="0">
                <a:solidFill/>
              </a:rPr>
              <a:t>TEAM 1  /  SPEAKER FLOW  /  </a:t>
            </a:r>
            <a:r>
              <a:rPr lang="en-US" dirty="0">
                <a:solidFill/>
              </a:rPr>
              <a:t>Salima</a:t>
            </a:r>
            <a:endParaRPr dirty="0">
              <a:solidFill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6868" y="75764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AF6"/>
                </a:solidFill>
                <a:latin typeface="Aptos"/>
              </a:defRPr>
            </a:pPr>
            <a:r>
              <a:rPr dirty="0">
                <a:solidFill/>
              </a:rPr>
              <a:t>Salima Alsaidi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1CFC1"/>
                </a:solidFill>
                <a:latin typeface="Aptos"/>
              </a:defRPr>
            </a:pPr>
            <a:r>
              <a:rPr>
                <a:solidFill/>
              </a:rPr>
              <a:t>Users, players &amp; player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01  Explore player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68833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Show positions, clubs and player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02  Explain user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8833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Describe user records and role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03  Compare players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142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Show player comparison and available attributes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04  Show AI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0142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Explain ratings and analysis as implemented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1CFC1"/>
                </a:solidFill>
                <a:latin typeface="Aptos"/>
              </a:defRPr>
            </a:pPr>
            <a:r>
              <a:rPr>
                <a:solidFill/>
              </a:rPr>
              <a:t>SHOW IN DEMO: players.html  •  ai.html  •  dashboard.html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>
                <a:solidFill/>
              </a:rPr>
              <a:t>HANDOFF  →  RASHID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B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 dirty="0">
                <a:solidFill/>
              </a:rPr>
              <a:t>TEAM 1  /  SPEAKER FLOW  /  </a:t>
            </a:r>
            <a:r>
              <a:rPr lang="en-US" dirty="0">
                <a:solidFill/>
              </a:rPr>
              <a:t>Rashid</a:t>
            </a:r>
            <a:endParaRPr dirty="0">
              <a:solidFill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5982" y="757647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AF6"/>
                </a:solidFill>
                <a:latin typeface="Aptos"/>
              </a:defRPr>
            </a:pPr>
            <a:r>
              <a:rPr dirty="0">
                <a:solidFill/>
              </a:rPr>
              <a:t>Rashid </a:t>
            </a:r>
            <a:r>
              <a:rPr dirty="0" err="1">
                <a:solidFill/>
              </a:rPr>
              <a:t>Alshibli</a:t>
            </a:r>
            <a:endParaRPr dirty="0">
              <a:solidFill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1CFC1"/>
                </a:solidFill>
                <a:latin typeface="Aptos"/>
              </a:defRPr>
            </a:pPr>
            <a:r>
              <a:rPr>
                <a:solidFill/>
              </a:rPr>
              <a:t>Matches, performance &amp; match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01  Browse match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68833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Show match list and fixture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02  Enter match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8833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Explain match data and player performances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03  Show AI match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142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Demonstrate available report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04  Explain Starting XI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0142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Show recommended lineup functionality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1CFC1"/>
                </a:solidFill>
                <a:latin typeface="Aptos"/>
              </a:defRPr>
            </a:pPr>
            <a:r>
              <a:rPr>
                <a:solidFill/>
              </a:rPr>
              <a:t>SHOW IN DEMO: matches.html  •  match statistics  •  AI match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>
                <a:solidFill/>
              </a:rPr>
              <a:t>HANDOFF  →  ALMONTHER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B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>
                <a:solidFill/>
              </a:rPr>
              <a:t>TEAM 1  /  SPEAKER FLOW  /  TEAM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982" y="751555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AF6"/>
                </a:solidFill>
                <a:latin typeface="Aptos"/>
              </a:defRPr>
            </a:pPr>
            <a:r>
              <a:rPr dirty="0" err="1">
                <a:solidFill/>
              </a:rPr>
              <a:t>Almonther</a:t>
            </a:r>
            <a:r>
              <a:rPr dirty="0">
                <a:solidFill/>
              </a:rPr>
              <a:t> </a:t>
            </a:r>
            <a:r>
              <a:rPr dirty="0" err="1">
                <a:solidFill/>
              </a:rPr>
              <a:t>Alwaili</a:t>
            </a:r>
            <a:endParaRPr dirty="0">
              <a:solidFill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1CFC1"/>
                </a:solidFill>
                <a:latin typeface="Aptos"/>
              </a:defRPr>
            </a:pPr>
            <a:r>
              <a:rPr>
                <a:solidFill/>
              </a:rPr>
              <a:t>Fantasy teams, scoring &amp; ratings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01  Build a fantasy XI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68833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Select 11 players within the available budget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4028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317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02  Choose captain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8833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Explain captain selection and double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03  Calculate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142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Walk through goal, assist, card and AI bonus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66160"/>
            <a:ext cx="5303520" cy="1115568"/>
          </a:xfrm>
          <a:prstGeom prst="roundRect">
            <a:avLst/>
          </a:prstGeom>
          <a:solidFill>
            <a:srgbClr val="13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6576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B777"/>
                </a:solidFill>
                <a:latin typeface="Aptos"/>
              </a:defRPr>
            </a:pPr>
            <a:r>
              <a:t>04  Check leaderboard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0142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5FAF6"/>
                </a:solidFill>
                <a:latin typeface="Aptos"/>
              </a:defRPr>
            </a:pPr>
            <a:r>
              <a:t>Show standings, AI ratings and rating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1CFC1"/>
                </a:solidFill>
                <a:latin typeface="Aptos"/>
              </a:defRPr>
            </a:pPr>
            <a:r>
              <a:rPr dirty="0">
                <a:solidFill/>
              </a:rPr>
              <a:t>SHOW IN DEMO: my-team.html  •  leaderboard.html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9B777"/>
                </a:solidFill>
                <a:latin typeface="Aptos"/>
              </a:defRPr>
            </a:pPr>
            <a:r>
              <a:rPr>
                <a:solidFill/>
              </a:rPr>
              <a:t>HANDOFF  →  TEAM CONCLUSION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 1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18D99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Oval 2"/>
          <p:cNvSpPr/>
          <p:nvPr/>
        </p:nvSpPr>
        <p:spPr>
          <a:xfrm>
            <a:off x="10789920" y="-777240"/>
            <a:ext cx="2377080" cy="2377080"/>
          </a:xfrm>
          <a:prstGeom prst="ellipse">
            <a:avLst/>
          </a:prstGeom>
          <a:solidFill>
            <a:srgbClr val="0D292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3"/>
          <p:cNvSpPr/>
          <p:nvPr/>
        </p:nvSpPr>
        <p:spPr>
          <a:xfrm>
            <a:off x="594360" y="25596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OMAN AI FOOTBALL MANAGER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4"/>
          <p:cNvSpPr/>
          <p:nvPr/>
        </p:nvSpPr>
        <p:spPr>
          <a:xfrm>
            <a:off x="594360" y="66744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Full time. The future starts here.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2" name="Connector 5"/>
          <p:cNvCxnSpPr/>
          <p:nvPr/>
        </p:nvCxnSpPr>
        <p:spPr>
          <a:xfrm>
            <a:off x="594360" y="1481040"/>
            <a:ext cx="11018880" cy="360"/>
          </a:xfrm>
          <a:prstGeom prst="straightConnector1">
            <a:avLst/>
          </a:prstGeom>
          <a:ln w="19050">
            <a:solidFill>
              <a:srgbClr val="31514A"/>
            </a:solidFill>
            <a:round/>
          </a:ln>
        </p:spPr>
      </p:cxnSp>
      <p:sp>
        <p:nvSpPr>
          <p:cNvPr id="473" name="TextBox 6"/>
          <p:cNvSpPr/>
          <p:nvPr/>
        </p:nvSpPr>
        <p:spPr>
          <a:xfrm>
            <a:off x="640080" y="647388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TEAM 1  /  OMAN PROFESSIONAL LEAGUE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7"/>
          <p:cNvSpPr/>
          <p:nvPr/>
        </p:nvSpPr>
        <p:spPr>
          <a:xfrm>
            <a:off x="11064240" y="6437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000" b="1" u="none" strike="noStrike">
                <a:solidFill>
                  <a:srgbClr val="18D99A"/>
                </a:solidFill>
                <a:effectLst/>
                <a:uFillTx/>
                <a:latin typeface="Aptos"/>
              </a:rPr>
              <a:t>15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Rectangle 8"/>
          <p:cNvSpPr/>
          <p:nvPr/>
        </p:nvSpPr>
        <p:spPr>
          <a:xfrm>
            <a:off x="7132320" y="1828800"/>
            <a:ext cx="4205880" cy="4023000"/>
          </a:xfrm>
          <a:prstGeom prst="rect">
            <a:avLst/>
          </a:prstGeom>
          <a:solidFill>
            <a:srgbClr val="0F654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Rectangle 9"/>
          <p:cNvSpPr/>
          <p:nvPr/>
        </p:nvSpPr>
        <p:spPr>
          <a:xfrm>
            <a:off x="7132320" y="1828800"/>
            <a:ext cx="350280" cy="402300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ectangle 10"/>
          <p:cNvSpPr/>
          <p:nvPr/>
        </p:nvSpPr>
        <p:spPr>
          <a:xfrm>
            <a:off x="7833240" y="1828800"/>
            <a:ext cx="350280" cy="402300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Rectangle 11"/>
          <p:cNvSpPr/>
          <p:nvPr/>
        </p:nvSpPr>
        <p:spPr>
          <a:xfrm>
            <a:off x="8534520" y="1828800"/>
            <a:ext cx="350280" cy="402300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Rectangle 12"/>
          <p:cNvSpPr/>
          <p:nvPr/>
        </p:nvSpPr>
        <p:spPr>
          <a:xfrm>
            <a:off x="9235440" y="1828800"/>
            <a:ext cx="350280" cy="402300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Rectangle 13"/>
          <p:cNvSpPr/>
          <p:nvPr/>
        </p:nvSpPr>
        <p:spPr>
          <a:xfrm>
            <a:off x="9936360" y="1828800"/>
            <a:ext cx="350280" cy="402300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Rectangle 14"/>
          <p:cNvSpPr/>
          <p:nvPr/>
        </p:nvSpPr>
        <p:spPr>
          <a:xfrm>
            <a:off x="10637640" y="1828800"/>
            <a:ext cx="350280" cy="4023000"/>
          </a:xfrm>
          <a:prstGeom prst="rect">
            <a:avLst/>
          </a:prstGeom>
          <a:solidFill>
            <a:srgbClr val="116F5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482" name="Connector 15"/>
          <p:cNvCxnSpPr/>
          <p:nvPr/>
        </p:nvCxnSpPr>
        <p:spPr>
          <a:xfrm>
            <a:off x="7269480" y="1965960"/>
            <a:ext cx="3931920" cy="3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483" name="Connector 16"/>
          <p:cNvCxnSpPr/>
          <p:nvPr/>
        </p:nvCxnSpPr>
        <p:spPr>
          <a:xfrm>
            <a:off x="7269480" y="5715000"/>
            <a:ext cx="3931920" cy="36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484" name="Connector 17"/>
          <p:cNvCxnSpPr/>
          <p:nvPr/>
        </p:nvCxnSpPr>
        <p:spPr>
          <a:xfrm>
            <a:off x="7269480" y="1965960"/>
            <a:ext cx="360" cy="374940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485" name="Connector 18"/>
          <p:cNvCxnSpPr/>
          <p:nvPr/>
        </p:nvCxnSpPr>
        <p:spPr>
          <a:xfrm>
            <a:off x="11201040" y="1965960"/>
            <a:ext cx="360" cy="374940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cxnSp>
        <p:nvCxnSpPr>
          <p:cNvPr id="486" name="Connector 19"/>
          <p:cNvCxnSpPr/>
          <p:nvPr/>
        </p:nvCxnSpPr>
        <p:spPr>
          <a:xfrm>
            <a:off x="9235440" y="1965960"/>
            <a:ext cx="360" cy="3749400"/>
          </a:xfrm>
          <a:prstGeom prst="straightConnector1">
            <a:avLst/>
          </a:prstGeom>
          <a:ln w="20320">
            <a:solidFill>
              <a:srgbClr val="8DCEBA"/>
            </a:solidFill>
            <a:round/>
          </a:ln>
        </p:spPr>
      </p:cxnSp>
      <p:sp>
        <p:nvSpPr>
          <p:cNvPr id="487" name="Oval 20"/>
          <p:cNvSpPr/>
          <p:nvPr/>
        </p:nvSpPr>
        <p:spPr>
          <a:xfrm>
            <a:off x="8732520" y="3337560"/>
            <a:ext cx="1005480" cy="1005480"/>
          </a:xfrm>
          <a:prstGeom prst="ellipse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Rectangle 21"/>
          <p:cNvSpPr/>
          <p:nvPr/>
        </p:nvSpPr>
        <p:spPr>
          <a:xfrm>
            <a:off x="7269480" y="2834640"/>
            <a:ext cx="1096920" cy="2011320"/>
          </a:xfrm>
          <a:prstGeom prst="rect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Rectangle 22"/>
          <p:cNvSpPr/>
          <p:nvPr/>
        </p:nvSpPr>
        <p:spPr>
          <a:xfrm>
            <a:off x="10104120" y="2834640"/>
            <a:ext cx="1096920" cy="2011320"/>
          </a:xfrm>
          <a:prstGeom prst="rect">
            <a:avLst/>
          </a:prstGeom>
          <a:noFill/>
          <a:ln>
            <a:solidFill>
              <a:srgbClr val="8DCE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Box 30"/>
          <p:cNvSpPr/>
          <p:nvPr/>
        </p:nvSpPr>
        <p:spPr>
          <a:xfrm>
            <a:off x="731520" y="1965960"/>
            <a:ext cx="62175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6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BUILT FOR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600" b="1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OMANI FOOTBALL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31"/>
          <p:cNvSpPr/>
          <p:nvPr/>
        </p:nvSpPr>
        <p:spPr>
          <a:xfrm>
            <a:off x="758880" y="4069080"/>
            <a:ext cx="5943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Fantasy teams  •  Data-driven points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132D28"/>
                </a:solidFill>
                <a:effectLst/>
                <a:uFillTx/>
                <a:latin typeface="Aptos"/>
              </a:rPr>
              <a:t>Player analysis  •  Local competition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32"/>
          <p:cNvSpPr/>
          <p:nvPr/>
        </p:nvSpPr>
        <p:spPr>
          <a:xfrm>
            <a:off x="758880" y="5788080"/>
            <a:ext cx="5760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1" u="none" strike="noStrike">
                <a:solidFill>
                  <a:srgbClr val="F7C65F"/>
                </a:solidFill>
                <a:effectLst/>
                <a:uFillTx/>
                <a:latin typeface="Aptos"/>
              </a:rPr>
              <a:t>THANK YOU  /  QUESTIONS?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F1822A-1EC0-4B29-8D4E-FBD4B2EF63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416" y="3336420"/>
            <a:ext cx="1005480" cy="1005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1135</Words>
  <Application>Microsoft Office PowerPoint</Application>
  <PresentationFormat>Widescreen</PresentationFormat>
  <Paragraphs>304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Abdalhakeem Alzahibi</dc:creator>
  <cp:lastModifiedBy>Abdalhakeem Alzahibi</cp:lastModifiedBy>
  <cp:revision>6</cp:revision>
  <dcterms:modified xsi:type="dcterms:W3CDTF">2026-10-22T05:11:17Z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